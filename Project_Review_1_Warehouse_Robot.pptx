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9716D"/>
                </a:solidFill>
                <a:latin typeface="Aptos"/>
              </a:defRPr>
            </a:pPr>
            <a:r>
              <a:t>REINFORCEMENT LEARNING TECHNIQUES   |   1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7874"/>
                </a:solidFill>
                <a:latin typeface="Aptos"/>
              </a:defRPr>
            </a:pPr>
            <a:r>
              <a:t>PROJECT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96739"/>
                </a:solidFill>
                <a:latin typeface="Aptos"/>
              </a:defRPr>
            </a:pPr>
            <a:r>
              <a:t>PROJECT REVIEW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172325"/>
                </a:solidFill>
                <a:latin typeface="Aptos"/>
              </a:defRPr>
            </a:pPr>
            <a:r>
              <a:t>Intelligent Warehouse</a:t>
            </a:r>
            <a:br/>
            <a:r>
              <a:t>Robot Navigation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67874"/>
                </a:solidFill>
                <a:latin typeface="Aptos"/>
              </a:defRPr>
            </a:pPr>
            <a:r>
              <a:t>USING ASYNCHRONOUS DYNAMIC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72325"/>
                </a:solidFill>
                <a:latin typeface="Aptos"/>
              </a:defRPr>
            </a:pPr>
            <a:r>
              <a:t>Presented by</a:t>
            </a:r>
            <a:br/>
            <a:r>
              <a:t>Aswin S.</a:t>
            </a:r>
            <a:br/>
            <a:r>
              <a:t>B.Tech CSE - AI &amp;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466344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72325"/>
                </a:solidFill>
                <a:latin typeface="Aptos"/>
              </a:defRPr>
            </a:pPr>
            <a:r>
              <a:t>Guide</a:t>
            </a:r>
            <a:br/>
            <a:r>
              <a:t>Dr. S. Saravanan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9716D"/>
                </a:solidFill>
                <a:latin typeface="Aptos"/>
              </a:defRPr>
            </a:pPr>
            <a:r>
              <a:t>KNOWN-MODEL PLANNING   |   MDP LAB /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9716D"/>
                </a:solidFill>
                <a:latin typeface="Aptos"/>
              </a:defRPr>
            </a:pPr>
            <a:r>
              <a:t>REINFORCEMENT LEARNING TECHNIQUES   |   2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7874"/>
                </a:solidFill>
                <a:latin typeface="Aptos"/>
              </a:defRPr>
            </a:pPr>
            <a:r>
              <a:t>PROBLEM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96739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72325"/>
                </a:solidFill>
                <a:latin typeface="Aptos"/>
              </a:defRPr>
            </a:pPr>
            <a:r>
              <a:t>From warehouse map</a:t>
            </a:r>
            <a:br/>
            <a:r>
              <a:t>to safe delivery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5120640" cy="2286000"/>
          </a:xfrm>
          <a:prstGeom prst="roundRect">
            <a:avLst/>
          </a:prstGeom>
          <a:solidFill>
            <a:srgbClr val="FFFDF7"/>
          </a:solidFill>
          <a:ln>
            <a:solidFill>
              <a:srgbClr val="BF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880360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96739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246120"/>
            <a:ext cx="480060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72325"/>
                </a:solidFill>
                <a:latin typeface="Aptos"/>
              </a:defRPr>
            </a:pPr>
            <a:r>
              <a:t>Efficient warehouse robot navigation requires suitable paths through constrained spaces while avoiding obstacles. This project models the warehouse as an MDP and computes a navigation policy using Asynchronous Dynamic Programming.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5212080" cy="2286000"/>
          </a:xfrm>
          <a:prstGeom prst="roundRect">
            <a:avLst/>
          </a:prstGeom>
          <a:solidFill>
            <a:srgbClr val="FFFDF7"/>
          </a:solidFill>
          <a:ln>
            <a:solidFill>
              <a:srgbClr val="BF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2880360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7874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3246120"/>
            <a:ext cx="48920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72325"/>
                </a:solidFill>
                <a:latin typeface="Aptos"/>
              </a:defRPr>
            </a:pPr>
            <a:r>
              <a:t>- Model the warehouse as an MDP</a:t>
            </a:r>
            <a:br/>
            <a:r>
              <a:t>- Define states, actions, transitions, rewards</a:t>
            </a:r>
            <a:br/>
            <a:r>
              <a:t>- Compute a policy with in-place updates</a:t>
            </a:r>
            <a:br/>
            <a:r>
              <a:t>- Generate a Start -&gt; Goal path</a:t>
            </a:r>
            <a:br/>
            <a:r>
              <a:t>- Simulate obstacle-aware movement</a:t>
            </a:r>
            <a:br/>
            <a:r>
              <a:t>- Compare asynchronous and synchronous DP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9716D"/>
                </a:solidFill>
                <a:latin typeface="Aptos"/>
              </a:defRPr>
            </a:pPr>
            <a:r>
              <a:t>PROBLEM - MODEL - POLICY -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9716D"/>
                </a:solidFill>
                <a:latin typeface="Aptos"/>
              </a:defRPr>
            </a:pPr>
            <a:r>
              <a:t>REINFORCEMENT LEARNING TECHNIQUES   |   3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7874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96739"/>
                </a:solidFill>
                <a:latin typeface="Aptos"/>
              </a:defRPr>
            </a:pPr>
            <a:r>
              <a:t>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325"/>
                </a:solidFill>
                <a:latin typeface="Aptos"/>
              </a:defRPr>
            </a:pPr>
            <a:r>
              <a:t>One map, one policy,</a:t>
            </a:r>
            <a:br/>
            <a:r>
              <a:t>one measurable route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554480" cy="1508760"/>
          </a:xfrm>
          <a:prstGeom prst="roundRect">
            <a:avLst/>
          </a:prstGeom>
          <a:solidFill>
            <a:srgbClr val="FFFDF7"/>
          </a:solidFill>
          <a:ln>
            <a:solidFill>
              <a:srgbClr val="BF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8803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9673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246120"/>
            <a:ext cx="123444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72325"/>
                </a:solidFill>
                <a:latin typeface="Aptos"/>
              </a:defRPr>
            </a:pPr>
            <a:r>
              <a:t>WAREHOUSE</a:t>
            </a:r>
            <a:br/>
            <a:r>
              <a:t>LAYOUT</a:t>
            </a:r>
            <a:br/>
            <a:r>
              <a:t>Grid + obstacles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337560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96739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2743200"/>
            <a:ext cx="1554480" cy="1508760"/>
          </a:xfrm>
          <a:prstGeom prst="roundRect">
            <a:avLst/>
          </a:prstGeom>
          <a:solidFill>
            <a:srgbClr val="FFFDF7"/>
          </a:solidFill>
          <a:ln>
            <a:solidFill>
              <a:srgbClr val="BF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28803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787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3246120"/>
            <a:ext cx="123444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72325"/>
                </a:solidFill>
                <a:latin typeface="Aptos"/>
              </a:defRPr>
            </a:pPr>
            <a:r>
              <a:t>MDP</a:t>
            </a:r>
            <a:br/>
            <a:r>
              <a:t>MODEL</a:t>
            </a:r>
            <a:br/>
            <a:r>
              <a:t>States + rewards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3337560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96739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743200"/>
            <a:ext cx="1554480" cy="1508760"/>
          </a:xfrm>
          <a:prstGeom prst="roundRect">
            <a:avLst/>
          </a:prstGeom>
          <a:solidFill>
            <a:srgbClr val="FFFDF7"/>
          </a:solidFill>
          <a:ln>
            <a:solidFill>
              <a:srgbClr val="BF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8803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9673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246120"/>
            <a:ext cx="123444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72325"/>
                </a:solidFill>
                <a:latin typeface="Aptos"/>
              </a:defRPr>
            </a:pPr>
            <a:r>
              <a:t>ASYNC</a:t>
            </a:r>
            <a:br/>
            <a:r>
              <a:t>DP</a:t>
            </a:r>
            <a:br/>
            <a:r>
              <a:t>In-place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337560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96739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743200"/>
            <a:ext cx="1554480" cy="1508760"/>
          </a:xfrm>
          <a:prstGeom prst="roundRect">
            <a:avLst/>
          </a:prstGeom>
          <a:solidFill>
            <a:srgbClr val="FFFDF7"/>
          </a:solidFill>
          <a:ln>
            <a:solidFill>
              <a:srgbClr val="BF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1" y="28803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787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1" y="3246120"/>
            <a:ext cx="123444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72325"/>
                </a:solidFill>
                <a:latin typeface="Aptos"/>
              </a:defRPr>
            </a:pPr>
            <a:r>
              <a:t>VALUE</a:t>
            </a:r>
            <a:br/>
            <a:r>
              <a:t>FUNCTION</a:t>
            </a:r>
            <a:br/>
            <a:r>
              <a:t>V(s) for cells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59" y="3337560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96739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9" y="2743200"/>
            <a:ext cx="1554480" cy="1508760"/>
          </a:xfrm>
          <a:prstGeom prst="roundRect">
            <a:avLst/>
          </a:prstGeom>
          <a:solidFill>
            <a:srgbClr val="FFFDF7"/>
          </a:solidFill>
          <a:ln>
            <a:solidFill>
              <a:srgbClr val="BF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1" y="28803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9673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1" y="3246120"/>
            <a:ext cx="123444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72325"/>
                </a:solidFill>
                <a:latin typeface="Aptos"/>
              </a:defRPr>
            </a:pPr>
            <a:r>
              <a:t>POLICY</a:t>
            </a:r>
            <a:br/>
            <a:r>
              <a:t>EXTRACTION</a:t>
            </a:r>
            <a:br/>
            <a:r>
              <a:t>Best direction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337560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96739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2743200"/>
            <a:ext cx="1554480" cy="1508760"/>
          </a:xfrm>
          <a:prstGeom prst="roundRect">
            <a:avLst/>
          </a:prstGeom>
          <a:solidFill>
            <a:srgbClr val="FFFDF7"/>
          </a:solidFill>
          <a:ln>
            <a:solidFill>
              <a:srgbClr val="BF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77272" y="2880360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787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77272" y="3246120"/>
            <a:ext cx="1234440" cy="914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72325"/>
                </a:solidFill>
                <a:latin typeface="Aptos"/>
              </a:defRPr>
            </a:pPr>
            <a:r>
              <a:t>ROBOT</a:t>
            </a:r>
            <a:br/>
            <a:r>
              <a:t>EVALUATION</a:t>
            </a:r>
            <a:br/>
            <a:r>
              <a:t>Path + 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8348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9716D"/>
                </a:solidFill>
                <a:latin typeface="Aptos"/>
              </a:defRPr>
            </a:pPr>
            <a:r>
              <a:t>Represent the grid -&gt; formulate the MDP -&gt; update values in place -&gt; extract the best action -&gt; evaluate the route.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9716D"/>
                </a:solidFill>
                <a:latin typeface="Aptos"/>
              </a:defRPr>
            </a:pPr>
            <a:r>
              <a:t>WAREHOUSE - MDP - ASYNC DP - POLICY - ROBOT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9716D"/>
                </a:solidFill>
                <a:latin typeface="Aptos"/>
              </a:defRPr>
            </a:pPr>
            <a:r>
              <a:t>REINFORCEMENT LEARNING TECHNIQUES   |   4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7874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96739"/>
                </a:solidFill>
                <a:latin typeface="Aptos"/>
              </a:defRPr>
            </a:pPr>
            <a:r>
              <a:t>FORMAL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325"/>
                </a:solidFill>
                <a:latin typeface="Aptos"/>
              </a:defRPr>
            </a:pPr>
            <a:r>
              <a:t>Learning the value of</a:t>
            </a:r>
            <a:br/>
            <a:r>
              <a:t>every aisle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257800" cy="2926080"/>
          </a:xfrm>
          <a:prstGeom prst="roundRect">
            <a:avLst/>
          </a:prstGeom>
          <a:solidFill>
            <a:srgbClr val="FFFDF7"/>
          </a:solidFill>
          <a:ln>
            <a:solidFill>
              <a:srgbClr val="BF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60604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7874"/>
                </a:solidFill>
                <a:latin typeface="Aptos"/>
              </a:defRPr>
            </a:pPr>
            <a:r>
              <a:t>MDP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71800"/>
            <a:ext cx="493776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72325"/>
                </a:solidFill>
                <a:latin typeface="Aptos"/>
              </a:defRPr>
            </a:pPr>
            <a:r>
              <a:t>State: robot position (row, column)</a:t>
            </a:r>
            <a:br/>
            <a:r>
              <a:t>Actions: Up, Down, Left, Right</a:t>
            </a:r>
            <a:br/>
            <a:r>
              <a:t>Transition: valid move enters free cell; invalid move stays</a:t>
            </a:r>
            <a:br/>
            <a:r>
              <a:t>Reward: goal +100, movement -1, obstacle -10, boundary -5</a:t>
            </a:r>
            <a:br/>
            <a:r>
              <a:t>Discount: gamma = 0.9</a:t>
            </a:r>
            <a:br/>
            <a:r>
              <a:t>Terminal: goal cell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468880"/>
            <a:ext cx="5212080" cy="2926080"/>
          </a:xfrm>
          <a:prstGeom prst="roundRect">
            <a:avLst/>
          </a:prstGeom>
          <a:solidFill>
            <a:srgbClr val="FFFDF7"/>
          </a:solidFill>
          <a:ln>
            <a:solidFill>
              <a:srgbClr val="BF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2606040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96739"/>
                </a:solidFill>
                <a:latin typeface="Aptos"/>
              </a:defRPr>
            </a:pPr>
            <a:r>
              <a:t>IN-PLACE ASYNC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2971800"/>
            <a:ext cx="489204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72325"/>
                </a:solidFill>
                <a:latin typeface="Aptos"/>
              </a:defRPr>
            </a:pPr>
            <a:r>
              <a:t>1. Initialize V(s) = 0</a:t>
            </a:r>
            <a:br/>
            <a:r>
              <a:t>2. Select row-major state</a:t>
            </a:r>
            <a:br/>
            <a:r>
              <a:t>3. Calculate max action value</a:t>
            </a:r>
            <a:br/>
            <a:r>
              <a:t>4. Immediately write V(s)</a:t>
            </a:r>
            <a:br/>
            <a:r>
              <a:t>5. Check max delta &lt; 0.001</a:t>
            </a:r>
            <a:br/>
            <a:r>
              <a:t>6. Extract greedy policy</a:t>
            </a:r>
            <a:br/>
            <a:br/>
            <a:r>
              <a:t>V(s) = max [ R(s,a) + 0.9 V(s')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9716D"/>
                </a:solidFill>
                <a:latin typeface="Aptos"/>
              </a:defRPr>
            </a:pPr>
            <a:r>
              <a:t>ASYNC = IN-PLACE UPDATES, NOT ASYNC/AWAIT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9716D"/>
                </a:solidFill>
                <a:latin typeface="Aptos"/>
              </a:defRPr>
            </a:pPr>
            <a:r>
              <a:t>REINFORCEMENT LEARNING TECHNIQUES   |   5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0" y="27432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7874"/>
                </a:solidFill>
                <a:latin typeface="Aptos"/>
              </a:defRPr>
            </a:pPr>
            <a:r>
              <a:t>EXPECTED OUTPUT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96739"/>
                </a:solidFill>
                <a:latin typeface="Aptos"/>
              </a:defRPr>
            </a:pPr>
            <a:r>
              <a:t>THE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72325"/>
                </a:solidFill>
                <a:latin typeface="Aptos"/>
              </a:defRPr>
            </a:pPr>
            <a:r>
              <a:t>Policy on the map.</a:t>
            </a:r>
            <a:br/>
            <a:r>
              <a:t>Evidence in the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212080" cy="2103120"/>
          </a:xfrm>
          <a:prstGeom prst="roundRect">
            <a:avLst/>
          </a:prstGeom>
          <a:solidFill>
            <a:srgbClr val="FFFDF7"/>
          </a:solidFill>
          <a:ln>
            <a:solidFill>
              <a:srgbClr val="BF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606040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67874"/>
                </a:solidFill>
                <a:latin typeface="Aptos"/>
              </a:defRPr>
            </a:pPr>
            <a:r>
              <a:t>EXPECTED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71800"/>
            <a:ext cx="48920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72325"/>
                </a:solidFill>
                <a:latin typeface="Aptos"/>
              </a:defRPr>
            </a:pPr>
            <a:r>
              <a:t>- Warehouse grid with obstacles</a:t>
            </a:r>
            <a:br/>
            <a:r>
              <a:t>- Value function for free states</a:t>
            </a:r>
            <a:br/>
            <a:r>
              <a:t>- Policy arrows showing best actions</a:t>
            </a:r>
            <a:br/>
            <a:r>
              <a:t>- Robot path from Start -&gt; Goal</a:t>
            </a:r>
            <a:br/>
            <a:r>
              <a:t>- Cell-by-cell robot animation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468880"/>
            <a:ext cx="5212080" cy="2103120"/>
          </a:xfrm>
          <a:prstGeom prst="roundRect">
            <a:avLst/>
          </a:prstGeom>
          <a:solidFill>
            <a:srgbClr val="FFFDF7"/>
          </a:solidFill>
          <a:ln>
            <a:solidFill>
              <a:srgbClr val="BFC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2606040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96739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2971800"/>
            <a:ext cx="48920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72325"/>
                </a:solidFill>
                <a:latin typeface="Aptos"/>
              </a:defRPr>
            </a:pPr>
            <a:r>
              <a:t>Compare both algorithms on the same warehouse:</a:t>
            </a:r>
            <a:br/>
            <a:br/>
            <a:r>
              <a:t>Iterations | State updates | Execution time</a:t>
            </a:r>
            <a:br/>
            <a:r>
              <a:t>Convergence | Path length | Total reward</a:t>
            </a:r>
            <a:br/>
            <a:br/>
            <a:r>
              <a:t>Do not assume asynchronous DP is always faster.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9716D"/>
                </a:solidFill>
                <a:latin typeface="Aptos"/>
              </a:defRPr>
            </a:pPr>
            <a:r>
              <a:t>EXPECTED OUTCOME: Problem -&gt; MDP -&gt; Async DP -&gt; Policy -&gt; Robot navigation -&gt;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093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9716D"/>
                </a:solidFill>
                <a:latin typeface="Aptos"/>
              </a:defRPr>
            </a:pPr>
            <a:r>
              <a:t>SIMULATION ONLY - NO PHYSICAL HARDWARE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9716D"/>
                </a:solidFill>
                <a:latin typeface="Aptos"/>
              </a:defRPr>
            </a:pPr>
            <a:r>
              <a:t>REINFORCEMENT LEARNING TECHNIQUES   |   6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27432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7874"/>
                </a:solidFill>
                <a:latin typeface="Aptos"/>
              </a:defRPr>
            </a:pPr>
            <a:r>
              <a:t>IMPLEMENTATION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2325"/>
                </a:solidFill>
                <a:latin typeface="Aptos"/>
              </a:defRPr>
            </a:pPr>
            <a:r>
              <a:t>A focused simulation with a clear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4241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172325"/>
                </a:solidFill>
                <a:latin typeface="Aptos"/>
              </a:defRPr>
            </a:pPr>
            <a:r>
              <a:t>Core implementation</a:t>
            </a:r>
            <a:br/>
            <a:r>
              <a:t>- Configurable 10 x 10 warehouse grid</a:t>
            </a:r>
            <a:br/>
            <a:r>
              <a:t>- Deterministic MDP transitions and rewards</a:t>
            </a:r>
            <a:br/>
            <a:r>
              <a:t>- In-place asynchronous Bellman updates</a:t>
            </a:r>
            <a:br/>
            <a:r>
              <a:t>- Synchronous baseline for comparison</a:t>
            </a:r>
            <a:br/>
            <a:br/>
            <a:r>
              <a:t>Demonstration layer</a:t>
            </a:r>
            <a:br/>
            <a:r>
              <a:t>- FastAPI backend and JSON endpoints</a:t>
            </a:r>
            <a:br/>
            <a:r>
              <a:t>- Vanilla browser dashboard</a:t>
            </a:r>
            <a:br/>
            <a:r>
              <a:t>- Policy, values, path, and animation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9716D"/>
                </a:solidFill>
                <a:latin typeface="Aptos"/>
              </a:defRPr>
            </a:pPr>
            <a:r>
              <a:t>MDP LAB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2636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7874"/>
                </a:solidFill>
                <a:latin typeface="Aptos"/>
              </a:defRPr>
            </a:pPr>
            <a:r>
              <a:t>Review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9716D"/>
                </a:solidFill>
                <a:latin typeface="Aptos"/>
              </a:defRPr>
            </a:pPr>
            <a:r>
              <a:t>REINFORCEMENT LEARNING TECHNIQUES   |   7 /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0" y="27432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67874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72325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42416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172325"/>
                </a:solidFill>
                <a:latin typeface="Aptos"/>
              </a:defRPr>
            </a:pPr>
            <a:r>
              <a:t>Intelligent Warehouse Robot Navigation Using Asynchronous Dynamic Programming</a:t>
            </a:r>
            <a:br/>
            <a:br/>
            <a:r>
              <a:t>Presented by: Aswin S.</a:t>
            </a:r>
            <a:br/>
            <a:r>
              <a:t>Course: Reinforcement Learning Techniques</a:t>
            </a:r>
            <a:br/>
            <a:br/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69716D"/>
                </a:solidFill>
                <a:latin typeface="Aptos"/>
              </a:defRPr>
            </a:pPr>
            <a:r>
              <a:t>MDP LAB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2636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96739"/>
                </a:solidFill>
                <a:latin typeface="Aptos"/>
              </a:defRPr>
            </a:pPr>
            <a:r>
              <a:t>Review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